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0BEEF-F8C2-744F-9F43-F30D22B6683D}" v="28" dt="2026-05-15T06:11:07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83" d="100"/>
          <a:sy n="83" d="100"/>
        </p:scale>
        <p:origin x="936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51CC-6986-FA6C-8372-10329CC9A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958CE-50BA-4C0F-C378-893141B2A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87C95-3F91-D1BE-CBF1-2E1D1D562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DF59C-A0A7-150A-BA7A-86A528C8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E0F28-05F5-6C20-DFD7-E1CCD88F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089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05BC-DF6F-794D-1F7A-690A88E2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FF850-5887-07B7-A447-48B5EDBA9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58E84-DAE1-BB36-A6A5-D9848046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5B38B-D73C-B8EF-5E6A-AA36D6371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602D8-F91F-1696-774E-39C2909C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575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C35D-029F-F137-BA47-E0F25A9E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5711D-1308-B60B-66E2-5EDD05A0F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35C6E-AE76-20CB-10A1-6D2004DED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5B1B4-9FD6-4962-AADC-6A988F47A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6349D-0F40-793C-A3D1-84C648DA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3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6238-324A-CAEE-79C4-2E2160EF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6444-FA62-B0C0-1ACC-6E9747C56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806B4-EDAF-0B32-D15B-AE068C76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157CD-7B90-6941-CA9F-10090CFBA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B3B54-47D8-5976-BBF6-956AAA7F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B3AC9-F948-E35B-CD95-BF237C674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920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BDFE-805B-1A20-F8E7-6890CAF1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0B042-468D-F61E-8BCF-1647E7688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6FCC6-C47F-38F7-38C2-23F877F84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E1AD2-9597-3C07-7B9E-1CD434E93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01D666-700A-0119-4B60-4463D38B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8F6F4C-5973-6E3F-6D71-42C08DF5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4BD8F-52A4-418D-558D-38D0F4D8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17D76-BC28-5A2F-E77F-6B209DFA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35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2CDF-86C3-09C1-0640-4E557EB03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29A3F-B57D-6AE2-3885-D3303AC7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0313C-CD05-176E-CB26-14A36BF8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1BBE2-638E-B1CD-08D5-2D777839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621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C9C70-69EC-C585-2190-9CA2AFD9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297A8-1ACD-8903-B732-B1DD9C4E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D1874-30F4-7756-B550-A3FE4FDB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47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E47E-BAF3-2592-7B4C-9A3018EF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55216-D289-0917-5959-EB1C99AA6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ED666-8345-73C1-82ED-746591215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5C80A-F23B-2468-10C0-61D90B31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7FB1D-34A9-F6BD-F2C9-1B3F4FCD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4A2C8-67C3-12EA-80BB-0D15C781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5541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023D-A51B-068C-085C-8A086F4FC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83BAE8-3EF7-B773-D11F-CA87EA8FD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9085A-99C2-B9DE-ADD3-F74BF957F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2F1BF-4F24-2160-345A-FF8F2539D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92667-CC64-C723-F6F0-71C88304D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0F803-5986-686C-037B-0B49E8E6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710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F621B-9333-B3FA-52AC-36FC2A5D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7D076-9768-3394-BBE6-5AA4DFF71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5C70D-C1FA-161C-A02E-6F59DFA4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4C096-09FB-C491-F8F4-30A3764C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099D2-ECED-8B57-1132-11A03AC3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957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F3EAC-4A81-2DAE-11F6-A82A510B4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0D4D7-FC6F-5014-F5D2-29DEBDD39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F006F-BF89-CDDC-7822-86C8A9F4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D9E27-7E26-A9CF-F0EF-2532ECC0E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2183-C9BE-8CFC-3686-2E9B2A971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7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60D49-2F14-F953-2D61-0DB72E3D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4A0AC-1C61-F01C-2D03-31D8EBFCB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3BEC3-67CF-DC9A-0CB4-D8EBA2BEE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8C95C-B9C8-DF4D-B4FC-E5B90BA39945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D32B2-B378-24BE-C0A7-C660879B7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8A6F2-2183-3E6E-8D64-F44132FA7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34F81-5049-2C44-B0AA-2078F3BB5F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519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86C7-9AC0-38A1-9FC7-5B3E3B654B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Pilot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86264-E845-C071-5A6F-DD365A3D6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Saliva &amp; Subgingival Microbiome</a:t>
            </a:r>
          </a:p>
        </p:txBody>
      </p:sp>
    </p:spTree>
    <p:extLst>
      <p:ext uri="{BB962C8B-B14F-4D97-AF65-F5344CB8AC3E}">
        <p14:creationId xmlns:p14="http://schemas.microsoft.com/office/powerpoint/2010/main" val="2602819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30D1-821B-F74B-3B76-9174C4EA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Samples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3AC70C-81AA-6781-E19E-BACD1A61B06D}"/>
              </a:ext>
            </a:extLst>
          </p:cNvPr>
          <p:cNvSpPr/>
          <p:nvPr/>
        </p:nvSpPr>
        <p:spPr>
          <a:xfrm>
            <a:off x="1102605" y="2129009"/>
            <a:ext cx="527892" cy="1299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6417F25-5131-EB91-27F6-09310430B6E0}"/>
              </a:ext>
            </a:extLst>
          </p:cNvPr>
          <p:cNvSpPr/>
          <p:nvPr/>
        </p:nvSpPr>
        <p:spPr>
          <a:xfrm>
            <a:off x="1761781" y="2129009"/>
            <a:ext cx="527892" cy="1299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994C57-4246-A2ED-2B85-A28FE29E9A93}"/>
              </a:ext>
            </a:extLst>
          </p:cNvPr>
          <p:cNvSpPr/>
          <p:nvPr/>
        </p:nvSpPr>
        <p:spPr>
          <a:xfrm>
            <a:off x="2420957" y="2129009"/>
            <a:ext cx="527892" cy="1299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1DFC682-0825-F2E5-07E8-8B268007C4A7}"/>
              </a:ext>
            </a:extLst>
          </p:cNvPr>
          <p:cNvSpPr/>
          <p:nvPr/>
        </p:nvSpPr>
        <p:spPr>
          <a:xfrm>
            <a:off x="3392277" y="2129009"/>
            <a:ext cx="527892" cy="129999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DA5D9A-85A2-E29C-CE1A-30C67C2D374C}"/>
              </a:ext>
            </a:extLst>
          </p:cNvPr>
          <p:cNvSpPr/>
          <p:nvPr/>
        </p:nvSpPr>
        <p:spPr>
          <a:xfrm>
            <a:off x="4051453" y="2129009"/>
            <a:ext cx="527892" cy="129999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0F57DD4-66D8-89A2-1342-885C0008CA4F}"/>
              </a:ext>
            </a:extLst>
          </p:cNvPr>
          <p:cNvSpPr/>
          <p:nvPr/>
        </p:nvSpPr>
        <p:spPr>
          <a:xfrm>
            <a:off x="4710629" y="2129009"/>
            <a:ext cx="527892" cy="129999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FCA47EF-B9ED-4B81-2CD3-2A6C72155C9C}"/>
              </a:ext>
            </a:extLst>
          </p:cNvPr>
          <p:cNvSpPr/>
          <p:nvPr/>
        </p:nvSpPr>
        <p:spPr>
          <a:xfrm>
            <a:off x="6514641" y="2129009"/>
            <a:ext cx="527892" cy="129999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E90A92-098B-FED3-0F80-96945B6A1C09}"/>
              </a:ext>
            </a:extLst>
          </p:cNvPr>
          <p:cNvSpPr/>
          <p:nvPr/>
        </p:nvSpPr>
        <p:spPr>
          <a:xfrm>
            <a:off x="7173817" y="2129009"/>
            <a:ext cx="527892" cy="129999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B412B82-E90D-4387-1147-FE2DF86D56F7}"/>
              </a:ext>
            </a:extLst>
          </p:cNvPr>
          <p:cNvSpPr/>
          <p:nvPr/>
        </p:nvSpPr>
        <p:spPr>
          <a:xfrm>
            <a:off x="7832993" y="2129009"/>
            <a:ext cx="527892" cy="129999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19EB8A-7C96-F1FE-060B-6B7F0EB3FD32}"/>
              </a:ext>
            </a:extLst>
          </p:cNvPr>
          <p:cNvSpPr/>
          <p:nvPr/>
        </p:nvSpPr>
        <p:spPr>
          <a:xfrm>
            <a:off x="8804313" y="2129009"/>
            <a:ext cx="527892" cy="12999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1576997-E211-2FAC-6343-2F2CD2FF8A9C}"/>
              </a:ext>
            </a:extLst>
          </p:cNvPr>
          <p:cNvSpPr/>
          <p:nvPr/>
        </p:nvSpPr>
        <p:spPr>
          <a:xfrm>
            <a:off x="9463489" y="2129009"/>
            <a:ext cx="527892" cy="12999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462A03C-7D86-0BD5-8132-C8276F093B50}"/>
              </a:ext>
            </a:extLst>
          </p:cNvPr>
          <p:cNvSpPr/>
          <p:nvPr/>
        </p:nvSpPr>
        <p:spPr>
          <a:xfrm>
            <a:off x="10122665" y="2129009"/>
            <a:ext cx="527892" cy="12999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57CC8320-0EFB-776B-E8B9-88FA349A0991}"/>
              </a:ext>
            </a:extLst>
          </p:cNvPr>
          <p:cNvSpPr/>
          <p:nvPr/>
        </p:nvSpPr>
        <p:spPr>
          <a:xfrm rot="5400000">
            <a:off x="1720008" y="2927675"/>
            <a:ext cx="539827" cy="17746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DC3D444-F101-9691-B8DD-E7F7CE3875B7}"/>
              </a:ext>
            </a:extLst>
          </p:cNvPr>
          <p:cNvSpPr/>
          <p:nvPr/>
        </p:nvSpPr>
        <p:spPr>
          <a:xfrm rot="5400000">
            <a:off x="4045485" y="2927675"/>
            <a:ext cx="539827" cy="17746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18CE7968-20DD-1E3A-2B9C-69FAA61766AA}"/>
              </a:ext>
            </a:extLst>
          </p:cNvPr>
          <p:cNvSpPr/>
          <p:nvPr/>
        </p:nvSpPr>
        <p:spPr>
          <a:xfrm rot="5400000">
            <a:off x="7167850" y="2927675"/>
            <a:ext cx="539827" cy="17746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E6D30576-2C79-5121-FDF6-C3B19B9D839C}"/>
              </a:ext>
            </a:extLst>
          </p:cNvPr>
          <p:cNvSpPr/>
          <p:nvPr/>
        </p:nvSpPr>
        <p:spPr>
          <a:xfrm rot="5400000">
            <a:off x="9493327" y="2927675"/>
            <a:ext cx="539827" cy="17746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29B63C-2534-5881-B1DC-91327474DB4C}"/>
              </a:ext>
            </a:extLst>
          </p:cNvPr>
          <p:cNvSpPr txBox="1"/>
          <p:nvPr/>
        </p:nvSpPr>
        <p:spPr>
          <a:xfrm>
            <a:off x="1174214" y="4094481"/>
            <a:ext cx="1774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DNEasy</a:t>
            </a:r>
            <a:r>
              <a:rPr lang="en-CA" dirty="0"/>
              <a:t> Blood &amp; Tissue (DBT)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4EF251-056B-C4E9-8F7A-81D3E97A3B6A}"/>
              </a:ext>
            </a:extLst>
          </p:cNvPr>
          <p:cNvSpPr txBox="1"/>
          <p:nvPr/>
        </p:nvSpPr>
        <p:spPr>
          <a:xfrm>
            <a:off x="3463886" y="4094481"/>
            <a:ext cx="1774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PowerFecal</a:t>
            </a:r>
            <a:r>
              <a:rPr lang="en-CA" dirty="0"/>
              <a:t> Pro (PF)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37EAA4-9809-9EAD-3D51-0CC78AF9114F}"/>
              </a:ext>
            </a:extLst>
          </p:cNvPr>
          <p:cNvSpPr txBox="1"/>
          <p:nvPr/>
        </p:nvSpPr>
        <p:spPr>
          <a:xfrm>
            <a:off x="6586251" y="4107745"/>
            <a:ext cx="1774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DNEasy</a:t>
            </a:r>
            <a:r>
              <a:rPr lang="en-CA" dirty="0"/>
              <a:t> Blood &amp; Tissue (DBT)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7647F2-BA50-F86D-2C1F-80AE79341352}"/>
              </a:ext>
            </a:extLst>
          </p:cNvPr>
          <p:cNvSpPr txBox="1"/>
          <p:nvPr/>
        </p:nvSpPr>
        <p:spPr>
          <a:xfrm>
            <a:off x="8875923" y="4107745"/>
            <a:ext cx="1774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PowerFecal</a:t>
            </a:r>
            <a:r>
              <a:rPr lang="en-CA" dirty="0"/>
              <a:t> Pro (PF)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71A20FF2-DC34-0772-7AF8-D815D39799BA}"/>
              </a:ext>
            </a:extLst>
          </p:cNvPr>
          <p:cNvSpPr/>
          <p:nvPr/>
        </p:nvSpPr>
        <p:spPr>
          <a:xfrm rot="5400000">
            <a:off x="2926814" y="3042256"/>
            <a:ext cx="539827" cy="41882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C9495A55-C6AE-9056-FAD4-BE95F310AFF6}"/>
              </a:ext>
            </a:extLst>
          </p:cNvPr>
          <p:cNvSpPr/>
          <p:nvPr/>
        </p:nvSpPr>
        <p:spPr>
          <a:xfrm rot="5400000">
            <a:off x="8410461" y="3042256"/>
            <a:ext cx="539827" cy="41882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C4B5A6-D142-F9E8-548A-4CA6761591B3}"/>
              </a:ext>
            </a:extLst>
          </p:cNvPr>
          <p:cNvSpPr txBox="1"/>
          <p:nvPr/>
        </p:nvSpPr>
        <p:spPr>
          <a:xfrm>
            <a:off x="2317672" y="5535779"/>
            <a:ext cx="177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Saliva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85727A-1804-698E-854F-2765E5A72AA5}"/>
              </a:ext>
            </a:extLst>
          </p:cNvPr>
          <p:cNvSpPr txBox="1"/>
          <p:nvPr/>
        </p:nvSpPr>
        <p:spPr>
          <a:xfrm>
            <a:off x="7793056" y="5535779"/>
            <a:ext cx="177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Subginvgival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270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0FAE728-C5A9-4B0F-B89E-F4BED8250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F5EFC2-C662-5D65-FBDA-EF0E3C00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3600" dirty="0"/>
              <a:t>Both kits produce an equivalent number of usable reads.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3F4FD-3CBE-C5B0-2497-519C61684583}"/>
              </a:ext>
            </a:extLst>
          </p:cNvPr>
          <p:cNvSpPr txBox="1"/>
          <p:nvPr/>
        </p:nvSpPr>
        <p:spPr>
          <a:xfrm>
            <a:off x="315911" y="6241542"/>
            <a:ext cx="9813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Paired T tests. Retained fraction = Clean/Raw.</a:t>
            </a:r>
          </a:p>
          <a:p>
            <a:r>
              <a:rPr lang="en-CA" i="1" dirty="0"/>
              <a:t>(Yes, it’s weird that the subgingival retained fraction is the only significant test, but I triple checked)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EDD395-3777-2701-0F65-AAE4D59CD3A4}"/>
              </a:ext>
            </a:extLst>
          </p:cNvPr>
          <p:cNvSpPr txBox="1"/>
          <p:nvPr/>
        </p:nvSpPr>
        <p:spPr>
          <a:xfrm>
            <a:off x="10734805" y="449684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*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294B9C-04FE-28F8-F426-E1CE28367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524" y="1359113"/>
            <a:ext cx="3904538" cy="240965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DA4B8A-67E2-33C6-58B9-70449978A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38" y="1454450"/>
            <a:ext cx="6718199" cy="41460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82CECE-B1D0-E175-350A-3556AEA10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524" y="4108556"/>
            <a:ext cx="3904538" cy="24096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CD3209A-45C7-87F2-2511-35BBA8A748E3}"/>
              </a:ext>
            </a:extLst>
          </p:cNvPr>
          <p:cNvSpPr txBox="1"/>
          <p:nvPr/>
        </p:nvSpPr>
        <p:spPr>
          <a:xfrm>
            <a:off x="10862404" y="4574404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17550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2EED-7B6D-E481-90F7-FE06B5D0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No major differences in taxonomic composition.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34B0F-91A4-4A48-0037-C864EC612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26" y="1841000"/>
            <a:ext cx="9514995" cy="4802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FA406D-C6DE-F56F-9711-45DAA2D74F17}"/>
              </a:ext>
            </a:extLst>
          </p:cNvPr>
          <p:cNvSpPr txBox="1"/>
          <p:nvPr/>
        </p:nvSpPr>
        <p:spPr>
          <a:xfrm>
            <a:off x="579284" y="2116573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Sample number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11935-8170-7309-051D-D74BE7A9F0B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352526" y="2301239"/>
            <a:ext cx="3654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1884-B366-F972-3298-725F32D6C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No differences in alpha diversity between kits.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5149A-C7FE-C56E-1109-A5BC9EA79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535"/>
          <a:stretch>
            <a:fillRect/>
          </a:stretch>
        </p:blipFill>
        <p:spPr>
          <a:xfrm>
            <a:off x="520486" y="2231822"/>
            <a:ext cx="4485468" cy="33165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2B86A8-68AE-4748-FC83-5ADAED5FE41D}"/>
              </a:ext>
            </a:extLst>
          </p:cNvPr>
          <p:cNvSpPr txBox="1"/>
          <p:nvPr/>
        </p:nvSpPr>
        <p:spPr>
          <a:xfrm>
            <a:off x="2395168" y="1690688"/>
            <a:ext cx="978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dirty="0"/>
              <a:t>Saliva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349A4-70DC-2866-9143-F594DCCB114F}"/>
              </a:ext>
            </a:extLst>
          </p:cNvPr>
          <p:cNvSpPr txBox="1"/>
          <p:nvPr/>
        </p:nvSpPr>
        <p:spPr>
          <a:xfrm>
            <a:off x="7796781" y="1690687"/>
            <a:ext cx="1701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dirty="0"/>
              <a:t>Subgingival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327999-5BAA-9B83-7C80-CC747C2AA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535"/>
          <a:stretch>
            <a:fillRect/>
          </a:stretch>
        </p:blipFill>
        <p:spPr>
          <a:xfrm>
            <a:off x="6297479" y="2231822"/>
            <a:ext cx="4485468" cy="33165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BA30BE-E965-3EFF-47DD-0BBEDC7A0F80}"/>
              </a:ext>
            </a:extLst>
          </p:cNvPr>
          <p:cNvSpPr txBox="1"/>
          <p:nvPr/>
        </p:nvSpPr>
        <p:spPr>
          <a:xfrm>
            <a:off x="4329972" y="6123543"/>
            <a:ext cx="2772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Paired T tests. All P &gt; 0.05.</a:t>
            </a:r>
          </a:p>
        </p:txBody>
      </p:sp>
    </p:spTree>
    <p:extLst>
      <p:ext uri="{BB962C8B-B14F-4D97-AF65-F5344CB8AC3E}">
        <p14:creationId xmlns:p14="http://schemas.microsoft.com/office/powerpoint/2010/main" val="182354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772D2-A926-56B3-11DB-85CF9607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39C7-32DD-237C-3E76-DBDA044A8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No differences in beta diversity between kits.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995FB-3521-E2A3-99EB-7B1A9201BA4C}"/>
              </a:ext>
            </a:extLst>
          </p:cNvPr>
          <p:cNvSpPr txBox="1"/>
          <p:nvPr/>
        </p:nvSpPr>
        <p:spPr>
          <a:xfrm>
            <a:off x="2395168" y="1690688"/>
            <a:ext cx="978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dirty="0"/>
              <a:t>Saliva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CCBFB-4184-7A30-8369-32D7FE581589}"/>
              </a:ext>
            </a:extLst>
          </p:cNvPr>
          <p:cNvSpPr txBox="1"/>
          <p:nvPr/>
        </p:nvSpPr>
        <p:spPr>
          <a:xfrm>
            <a:off x="7796781" y="1690687"/>
            <a:ext cx="1701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dirty="0"/>
              <a:t>Subgingival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B56AE-078B-F606-BD63-C733AE3D7BFC}"/>
              </a:ext>
            </a:extLst>
          </p:cNvPr>
          <p:cNvSpPr txBox="1"/>
          <p:nvPr/>
        </p:nvSpPr>
        <p:spPr>
          <a:xfrm>
            <a:off x="3717601" y="6235446"/>
            <a:ext cx="517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Bray-Curtis metric, PERMANOVA tests. All P &gt; 0.05.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8F655-2B0B-4E64-FA14-4F6BE4984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39" y="2499101"/>
            <a:ext cx="5342789" cy="3297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ADFA74-A56E-1310-E8EE-4BCEE9F2F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354" y="2499101"/>
            <a:ext cx="5342789" cy="329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7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126</Words>
  <Application>Microsoft Macintosh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Pilot Data</vt:lpstr>
      <vt:lpstr>Samples</vt:lpstr>
      <vt:lpstr>Both kits produce an equivalent number of usable reads.</vt:lpstr>
      <vt:lpstr>No major differences in taxonomic composition.</vt:lpstr>
      <vt:lpstr>No differences in alpha diversity between kits.</vt:lpstr>
      <vt:lpstr>No differences in beta diversity between kits.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Avril Metcalfe-Roach</dc:creator>
  <cp:lastModifiedBy>Avril Metcalfe-Roach</cp:lastModifiedBy>
  <cp:revision>1</cp:revision>
  <dcterms:created xsi:type="dcterms:W3CDTF">2026-05-14T20:59:11Z</dcterms:created>
  <dcterms:modified xsi:type="dcterms:W3CDTF">2026-05-15T06:13:12Z</dcterms:modified>
</cp:coreProperties>
</file>